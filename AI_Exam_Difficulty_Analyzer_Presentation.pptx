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463040"/>
            <a:ext cx="109728" cy="3840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6B6D4"/>
                </a:solidFill>
                <a:latin typeface="Calibri"/>
              </a:defRPr>
            </a:pPr>
            <a:r>
              <a:t>RESEARCH &amp; ENGINEERING PRESENTATION</a:t>
            </a:r>
          </a:p>
          <a:p>
            <a:pPr>
              <a:spcAft>
                <a:spcPts val="800"/>
              </a:spcAft>
              <a:defRPr sz="3200" b="1">
                <a:solidFill>
                  <a:srgbClr val="F8FAFC"/>
                </a:solidFill>
                <a:latin typeface="Calibri"/>
              </a:defRPr>
            </a:pPr>
            <a:r>
              <a:t>AI BASED AUTOMATIC QUESTION PAPER DIFFICULTY ANALYZER</a:t>
            </a:r>
          </a:p>
          <a:p>
            <a:pPr>
              <a:spcAft>
                <a:spcPts val="2800"/>
              </a:spcAft>
              <a:defRPr sz="1800">
                <a:solidFill>
                  <a:srgbClr val="6366F1"/>
                </a:solidFill>
                <a:latin typeface="Calibri"/>
              </a:defRPr>
            </a:pPr>
            <a:r>
              <a:t>Automatic Question Paper Difficulty &amp; Cognitive Demand Evaluation</a:t>
            </a:r>
            <a:br/>
            <a:r>
              <a:t>via Revised Bloom's Taxonomy and Dual-Task NLP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Production Architecture  |  Zero-Leakage ML Pipeline  |  Accreditation Ready  |  Human-in-the-Loop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  <a:latin typeface="Calibri"/>
              </a:defRPr>
            </a:pPr>
            <a:r>
              <a:t>CONTEXT &amp; PROBLEM DEFINITION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Calibri"/>
              </a:defRPr>
            </a:pPr>
            <a:r>
              <a:t>The Core Problem: Subjectivity &amp; The Conflation Fallacy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Why traditional institutional moderation fails and why existing automated tools produce skewed audits.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71F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Calibri"/>
              </a:defRPr>
            </a:pPr>
            <a:r>
              <a:t>1. Manual Moderation Bottleneck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High Subjectivity: </a:t>
            </a:r>
            <a:r>
              <a:rPr>
                <a:solidFill>
                  <a:srgbClr val="F8FAFC"/>
                </a:solidFill>
              </a:rPr>
              <a:t>Inter-rater reliability among faculty moderators averages below 60% on cognitive depth.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Labor-Intensive: </a:t>
            </a:r>
            <a:r>
              <a:rPr>
                <a:solidFill>
                  <a:srgbClr val="F8FAFC"/>
                </a:solidFill>
              </a:rPr>
              <a:t>Evaluating hundreds of university papers against ABET/NBA accreditation guidelines takes weeks.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Late Detection: </a:t>
            </a:r>
            <a:r>
              <a:rPr>
                <a:solidFill>
                  <a:srgbClr val="F8FAFC"/>
                </a:solidFill>
              </a:rPr>
              <a:t>Imbalanced exam papers are often discovered post-exam after high student failure rates occur.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71F33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Calibri"/>
              </a:defRPr>
            </a:pPr>
            <a:r>
              <a:t>2. The 'Conflation Fallacy'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Fatal Assumption: </a:t>
            </a:r>
            <a:r>
              <a:rPr>
                <a:solidFill>
                  <a:srgbClr val="F8FAFC"/>
                </a:solidFill>
              </a:rPr>
              <a:t>Existing EdTech systems treat Cognitive Demand and Question Difficulty as interchangeable.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The Reality: </a:t>
            </a:r>
            <a:r>
              <a:rPr>
                <a:solidFill>
                  <a:srgbClr val="F8FAFC"/>
                </a:solidFill>
              </a:rPr>
              <a:t>Bloom's Level = Mental operation elicited. Difficulty = Expected student error probability.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Distortion: </a:t>
            </a:r>
            <a:r>
              <a:rPr>
                <a:solidFill>
                  <a:srgbClr val="F8FAFC"/>
                </a:solidFill>
              </a:rPr>
              <a:t>Treating them as identical invalidates institutional syllabus balance and accreditation outcomes.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71F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Calibri"/>
              </a:defRPr>
            </a:pPr>
            <a:r>
              <a:t>3. Concrete Real-World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945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High Demand, Low Difficulty: </a:t>
            </a:r>
            <a:r>
              <a:rPr>
                <a:solidFill>
                  <a:srgbClr val="F8FAFC"/>
                </a:solidFill>
              </a:rPr>
              <a:t>'Design a relational schema for a simple 3-entity library.' Cognitive Level: CREATE (Level 6), but empirically EASY for 3rd year CS.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Low Demand, High Difficulty: </a:t>
            </a:r>
            <a:r>
              <a:rPr>
                <a:solidFill>
                  <a:srgbClr val="F8FAFC"/>
                </a:solidFill>
              </a:rPr>
              <a:t>'State the IEEE 754-2008 exact bit precision for subnormal floats.' Cognitive Level: REMEMBER (Level 1), but empirically HARD.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  <a:latin typeface="Calibri"/>
              </a:defRPr>
            </a:pPr>
            <a:r>
              <a:t>THEORETICAL FOUNDATIONS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Calibri"/>
              </a:defRPr>
            </a:pPr>
            <a:r>
              <a:t>Dual-Task Formulation: Bloom's Taxonomy &amp; Difficulty Tiers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Grounding in Anderson &amp; Krathwohl's (2001) Revised Taxonomy alongside empirical difficulty scaling.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217920" cy="4572000"/>
          </a:xfrm>
          <a:prstGeom prst="roundRect">
            <a:avLst/>
          </a:prstGeom>
          <a:solidFill>
            <a:srgbClr val="171F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5852159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Calibri"/>
              </a:defRPr>
            </a:pPr>
            <a:r>
              <a:t>Task A: Revised Bloom's Taxonomy (6 Cognitive Processes)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5852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1. Remember: </a:t>
            </a:r>
            <a:r>
              <a:rPr>
                <a:solidFill>
                  <a:srgbClr val="F8FAFC"/>
                </a:solidFill>
              </a:rPr>
              <a:t>Retrieving knowledge from long-term memory (Define, List, Recall, State).</a:t>
            </a:r>
          </a:p>
          <a:p>
            <a:pPr>
              <a:spcAft>
                <a:spcPts val="400"/>
              </a:spcAft>
              <a:defRPr sz="100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2. Understand: </a:t>
            </a:r>
            <a:r>
              <a:rPr>
                <a:solidFill>
                  <a:srgbClr val="F8FAFC"/>
                </a:solidFill>
              </a:rPr>
              <a:t>Constructing meaning from instructional messages (Explain, Summarize, Interpret).</a:t>
            </a:r>
          </a:p>
          <a:p>
            <a:pPr>
              <a:spcAft>
                <a:spcPts val="400"/>
              </a:spcAft>
              <a:defRPr sz="100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3. Apply: </a:t>
            </a:r>
            <a:r>
              <a:rPr>
                <a:solidFill>
                  <a:srgbClr val="F8FAFC"/>
                </a:solidFill>
              </a:rPr>
              <a:t>Executing or carrying out a procedure in a given scenario (Calculate, Solve, Execute).</a:t>
            </a:r>
          </a:p>
          <a:p>
            <a:pPr>
              <a:spcAft>
                <a:spcPts val="400"/>
              </a:spcAft>
              <a:defRPr sz="100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4. Analyze: </a:t>
            </a:r>
            <a:r>
              <a:rPr>
                <a:solidFill>
                  <a:srgbClr val="F8FAFC"/>
                </a:solidFill>
              </a:rPr>
              <a:t>Deconstructing material into constituent parts &amp; relationships (Differentiate, Deconstruct).</a:t>
            </a:r>
          </a:p>
          <a:p>
            <a:pPr>
              <a:spcAft>
                <a:spcPts val="400"/>
              </a:spcAft>
              <a:defRPr sz="100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5. Evaluate: </a:t>
            </a:r>
            <a:r>
              <a:rPr>
                <a:solidFill>
                  <a:srgbClr val="F8FAFC"/>
                </a:solidFill>
              </a:rPr>
              <a:t>Making critical judgments based on criteria and standards (Critique, Justify, Defend).</a:t>
            </a:r>
          </a:p>
          <a:p>
            <a:pPr>
              <a:spcAft>
                <a:spcPts val="400"/>
              </a:spcAft>
              <a:defRPr sz="100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6. Create: </a:t>
            </a:r>
            <a:r>
              <a:rPr>
                <a:solidFill>
                  <a:srgbClr val="F8FAFC"/>
                </a:solidFill>
              </a:rPr>
              <a:t>Putting elements together to form a novel coherent structure (Design, Synthesize, Formulate).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645920"/>
            <a:ext cx="4114800" cy="4572000"/>
          </a:xfrm>
          <a:prstGeom prst="roundRect">
            <a:avLst/>
          </a:prstGeom>
          <a:solidFill>
            <a:srgbClr val="171F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1783080"/>
            <a:ext cx="3749039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Calibri"/>
              </a:defRPr>
            </a:pPr>
            <a:r>
              <a:t>Task B: Question Difficulty Tiers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194560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Easy Tier: </a:t>
            </a:r>
            <a:r>
              <a:rPr>
                <a:solidFill>
                  <a:srgbClr val="F8FAFC"/>
                </a:solidFill>
              </a:rPr>
              <a:t>Direct single-step reasoning, straightforward recall or fundamental concepts. High success probability across cohort (&gt;75%).</a:t>
            </a:r>
          </a:p>
          <a:p>
            <a:pPr>
              <a:spcAft>
                <a:spcPts val="600"/>
              </a:spcAft>
              <a:defRPr sz="100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Medium Tier: </a:t>
            </a:r>
            <a:r>
              <a:rPr>
                <a:solidFill>
                  <a:srgbClr val="F8FAFC"/>
                </a:solidFill>
              </a:rPr>
              <a:t>Multi-concept synthesis, standard multi-step algorithmic derivation or domain application. Average cohort success (40-75%).</a:t>
            </a:r>
          </a:p>
          <a:p>
            <a:pPr>
              <a:spcAft>
                <a:spcPts val="600"/>
              </a:spcAft>
              <a:defRPr sz="100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Hard Tier: </a:t>
            </a:r>
            <a:r>
              <a:rPr>
                <a:solidFill>
                  <a:srgbClr val="F8FAFC"/>
                </a:solidFill>
              </a:rPr>
              <a:t>Non-trivial edge cases, complex analytical decomposition, cross-disciplinary integration. Low cohort success (&lt;40%).</a:t>
            </a:r>
          </a:p>
          <a:p>
            <a:pPr>
              <a:spcAft>
                <a:spcPts val="600"/>
              </a:spcAft>
              <a:defRPr sz="100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Formal Decoupling: </a:t>
            </a:r>
            <a:r>
              <a:rPr>
                <a:solidFill>
                  <a:srgbClr val="F8FAFC"/>
                </a:solidFill>
              </a:rPr>
              <a:t>Dual Targets: y_bloom in {1..6}, y_diff in {Easy, Medium, Hard}. Formulated as independent classification spaces.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  <a:latin typeface="Calibri"/>
              </a:defRPr>
            </a:pPr>
            <a:r>
              <a:t>FULL-STACK SYSTEM ARCHITECTURE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Calibri"/>
              </a:defRPr>
            </a:pPr>
            <a:r>
              <a:t>End-to-End Modular Engineering Flow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From digital examination ingestion (PDF/DOCX) to ML inference, HITL review, and institutional accreditation.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171F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Calibri"/>
              </a:defRPr>
            </a:pPr>
            <a:r>
              <a:t>1. Ingestion &amp; Parsing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PDF Extraction: </a:t>
            </a:r>
            <a:r>
              <a:rPr>
                <a:solidFill>
                  <a:srgbClr val="F8FAFC"/>
                </a:solidFill>
              </a:rPr>
              <a:t>High-fidelity text flow via PyMuPDF (fitz).</a:t>
            </a:r>
          </a:p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DOCX Parsing: </a:t>
            </a:r>
            <a:r>
              <a:rPr>
                <a:solidFill>
                  <a:srgbClr val="F8FAFC"/>
                </a:solidFill>
              </a:rPr>
              <a:t>Structure-aware python-docx reader.</a:t>
            </a:r>
          </a:p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Segmentation: </a:t>
            </a:r>
            <a:r>
              <a:rPr>
                <a:solidFill>
                  <a:srgbClr val="F8FAFC"/>
                </a:solidFill>
              </a:rPr>
              <a:t>Intelligent regex detecting Q1(a), section blocks, and optional choices.</a:t>
            </a:r>
          </a:p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Score Extraction: </a:t>
            </a:r>
            <a:r>
              <a:rPr>
                <a:solidFill>
                  <a:srgbClr val="F8FAFC"/>
                </a:solidFill>
              </a:rPr>
              <a:t>Preserves allocated marks while separating them from prompt 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171F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78308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Calibri"/>
              </a:defRPr>
            </a:pPr>
            <a:r>
              <a:t>2. Sanitization &amp; 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19456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Zero-Leakage Filter: </a:t>
            </a:r>
            <a:r>
              <a:rPr>
                <a:solidFill>
                  <a:srgbClr val="F8FAFC"/>
                </a:solidFill>
              </a:rPr>
              <a:t>Strips marks, labels, and question numbers before inference.</a:t>
            </a:r>
          </a:p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Feature Engineering: </a:t>
            </a:r>
            <a:r>
              <a:rPr>
                <a:solidFill>
                  <a:srgbClr val="F8FAFC"/>
                </a:solidFill>
              </a:rPr>
              <a:t>Sublinear TF-IDF + Readability + POS metrics.</a:t>
            </a:r>
          </a:p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Task A Classifier: </a:t>
            </a:r>
            <a:r>
              <a:rPr>
                <a:solidFill>
                  <a:srgbClr val="F8FAFC"/>
                </a:solidFill>
              </a:rPr>
              <a:t>Bloom's 6-Class Champion (LogReg / Linear SVM).</a:t>
            </a:r>
          </a:p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Task B Classifier: </a:t>
            </a:r>
            <a:r>
              <a:rPr>
                <a:solidFill>
                  <a:srgbClr val="F8FAFC"/>
                </a:solidFill>
              </a:rPr>
              <a:t>Difficulty 3-Tier Champion (LogReg / Linear SVM).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171F33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Calibri"/>
              </a:defRPr>
            </a:pPr>
            <a:r>
              <a:t>3. HITL Faculty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9456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Interactive UI: </a:t>
            </a:r>
            <a:r>
              <a:rPr>
                <a:solidFill>
                  <a:srgbClr val="F8FAFC"/>
                </a:solidFill>
              </a:rPr>
              <a:t>Next.js 16 + React 19 glassmorphic dashboard.</a:t>
            </a:r>
          </a:p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Calibrated Confidence: </a:t>
            </a:r>
            <a:r>
              <a:rPr>
                <a:solidFill>
                  <a:srgbClr val="F8FAFC"/>
                </a:solidFill>
              </a:rPr>
              <a:t>Displays model confidence probabilities.</a:t>
            </a:r>
          </a:p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Teacher Overrides: </a:t>
            </a:r>
            <a:r>
              <a:rPr>
                <a:solidFill>
                  <a:srgbClr val="F8FAFC"/>
                </a:solidFill>
              </a:rPr>
              <a:t>Educators can adjust predictions with logged rationale.</a:t>
            </a:r>
          </a:p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Audit Trails: </a:t>
            </a:r>
            <a:r>
              <a:rPr>
                <a:solidFill>
                  <a:srgbClr val="F8FAFC"/>
                </a:solidFill>
              </a:rPr>
              <a:t>Relational tracking of original vs revised labels.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171F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78308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Calibri"/>
              </a:defRPr>
            </a:pPr>
            <a:r>
              <a:t>4. Accreditation Audit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219456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Cognitive Balance: </a:t>
            </a:r>
            <a:r>
              <a:rPr>
                <a:solidFill>
                  <a:srgbClr val="F8FAFC"/>
                </a:solidFill>
              </a:rPr>
              <a:t>Automated calculation of Bloom Distribution Index.</a:t>
            </a:r>
          </a:p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PDF ReportLab: </a:t>
            </a:r>
            <a:r>
              <a:rPr>
                <a:solidFill>
                  <a:srgbClr val="F8FAFC"/>
                </a:solidFill>
              </a:rPr>
              <a:t>Institutional PDF with charts, breakdowns &amp; signatures.</a:t>
            </a:r>
          </a:p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Streaming CSV: </a:t>
            </a:r>
            <a:r>
              <a:rPr>
                <a:solidFill>
                  <a:srgbClr val="F8FAFC"/>
                </a:solidFill>
              </a:rPr>
              <a:t>Machine-readable export for external ERP / LMS integration.</a:t>
            </a:r>
          </a:p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Accreditation: </a:t>
            </a:r>
            <a:r>
              <a:rPr>
                <a:solidFill>
                  <a:srgbClr val="F8FAFC"/>
                </a:solidFill>
              </a:rPr>
              <a:t>Directly maps to ABET &amp; NBA Criterion 3 outcomes.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  <a:latin typeface="Calibri"/>
              </a:defRPr>
            </a:pPr>
            <a:r>
              <a:t>DATA ENGINEERING &amp; METHODOLOGICAL RIGOR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Calibri"/>
              </a:defRPr>
            </a:pPr>
            <a:r>
              <a:t>Preventing Shortcut Learning &amp; Label Leakage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How dataset sanitization ensures models learn true semantic constructs rather than typographical cues.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71F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79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Calibri"/>
              </a:defRPr>
            </a:pPr>
            <a:r>
              <a:t>The Risk of Spurious Correlation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The 'Marks' Leakage Trap: </a:t>
            </a:r>
            <a:r>
              <a:rPr>
                <a:solidFill>
                  <a:srgbClr val="F8FAFC"/>
                </a:solidFill>
              </a:rPr>
              <a:t>If an NLP model sees '[15 Marks]', it trivially classifies the question as 'Hard' or 'Evaluate' without understanding linguistic complexity.</a:t>
            </a:r>
          </a:p>
          <a:p>
            <a:pPr>
              <a:spcAft>
                <a:spcPts val="600"/>
              </a:spcAft>
              <a:defRPr sz="100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The 'Numbering' Cue: </a:t>
            </a:r>
            <a:r>
              <a:rPr>
                <a:solidFill>
                  <a:srgbClr val="F8FAFC"/>
                </a:solidFill>
              </a:rPr>
              <a:t>Questions labeled 'Q1(a)' are statistically more likely to be definitions ('Remember') in typical university syllabi.</a:t>
            </a:r>
          </a:p>
          <a:p>
            <a:pPr>
              <a:spcAft>
                <a:spcPts val="600"/>
              </a:spcAft>
              <a:defRPr sz="100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Prior Literature Flaw: </a:t>
            </a:r>
            <a:r>
              <a:rPr>
                <a:solidFill>
                  <a:srgbClr val="F8FAFC"/>
                </a:solidFill>
              </a:rPr>
              <a:t>Many published papers achieve false 98%+ accuracy simply because models memorized bracketed marks and numbering formatting.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71F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Calibri"/>
              </a:defRPr>
            </a:pPr>
            <a:r>
              <a:t>Our Zero-Leakage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Regex Metadata Cleansing: </a:t>
            </a:r>
            <a:r>
              <a:rPr>
                <a:solidFill>
                  <a:srgbClr val="F8FAFC"/>
                </a:solidFill>
              </a:rPr>
              <a:t>All mark notations (e.g., '[10 pts]', '(5 marks)', 'CO3') and question indices ('Q. 2b.') are parsed into relational metadata and purged from model input.</a:t>
            </a:r>
          </a:p>
          <a:p>
            <a:pPr>
              <a:spcAft>
                <a:spcPts val="500"/>
              </a:spcAft>
              <a:defRPr sz="100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Text Normalization: </a:t>
            </a:r>
            <a:r>
              <a:rPr>
                <a:solidFill>
                  <a:srgbClr val="F8FAFC"/>
                </a:solidFill>
              </a:rPr>
              <a:t>Contraction expansion, ASCII standardization, and whitespace normalization applied uniformly across training and inference.</a:t>
            </a:r>
          </a:p>
          <a:p>
            <a:pPr>
              <a:spcAft>
                <a:spcPts val="500"/>
              </a:spcAft>
              <a:defRPr sz="100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Stratified Split (70 / 15 / 15): </a:t>
            </a:r>
            <a:r>
              <a:rPr>
                <a:solidFill>
                  <a:srgbClr val="F8FAFC"/>
                </a:solidFill>
              </a:rPr>
              <a:t>Multi-label iterative stratification preserves exact class balance across Train, Validation, and Held-Out Test sets without prompt leakage.</a:t>
            </a:r>
          </a:p>
          <a:p>
            <a:pPr>
              <a:spcAft>
                <a:spcPts val="500"/>
              </a:spcAft>
              <a:defRPr sz="100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Audited Baseline Integrity: </a:t>
            </a:r>
            <a:r>
              <a:rPr>
                <a:solidFill>
                  <a:srgbClr val="F8FAFC"/>
                </a:solidFill>
              </a:rPr>
              <a:t>Models are strictly evaluated on held-out test prompts containing solely semantic text.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  <a:latin typeface="Calibri"/>
              </a:defRPr>
            </a:pPr>
            <a:r>
              <a:t>EXPERIMENTAL RESULTS: TASK A &amp; TASK B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Calibri"/>
              </a:defRPr>
            </a:pPr>
            <a:r>
              <a:t>Model Benchmarks on Held-Out Test Sets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Rigorous empirical evaluation comparing Rule-Based Heuristics, Naive Bayes, Linear SVM, and Logistic Regression.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71F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Calibri"/>
              </a:defRPr>
            </a:pPr>
            <a:r>
              <a:t>Task A: Bloom's Taxonomy (6 Classes)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103120"/>
          <a:ext cx="48463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914400"/>
                <a:gridCol w="914400"/>
                <a:gridCol w="822960"/>
              </a:tblGrid>
              <a:tr h="329184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6B6D4"/>
                          </a:solidFill>
                          <a:latin typeface="Calibri"/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6B6D4"/>
                          </a:solidFill>
                          <a:latin typeface="Calibri"/>
                        </a:defRPr>
                      </a:pPr>
                      <a:r>
                        <a:t>Val Acc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6B6D4"/>
                          </a:solidFill>
                          <a:latin typeface="Calibri"/>
                        </a:defRPr>
                      </a:pPr>
                      <a:r>
                        <a:t>Test Acc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6B6D4"/>
                          </a:solidFill>
                          <a:latin typeface="Calibri"/>
                        </a:defRPr>
                      </a:pPr>
                      <a:r>
                        <a:t>Test F1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Action Verb Heuristic</a:t>
                      </a:r>
                    </a:p>
                  </a:txBody>
                  <a:tcPr>
                    <a:solidFill>
                      <a:srgbClr val="17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96.47%</a:t>
                      </a:r>
                    </a:p>
                  </a:txBody>
                  <a:tcPr>
                    <a:solidFill>
                      <a:srgbClr val="17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88.37%</a:t>
                      </a:r>
                    </a:p>
                  </a:txBody>
                  <a:tcPr>
                    <a:solidFill>
                      <a:srgbClr val="17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88.52%</a:t>
                      </a:r>
                    </a:p>
                  </a:txBody>
                  <a:tcPr>
                    <a:solidFill>
                      <a:srgbClr val="171F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TF-IDF + Naive Bayes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90.59%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86.05%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85.98%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Linear SVM</a:t>
                      </a:r>
                    </a:p>
                  </a:txBody>
                  <a:tcPr>
                    <a:solidFill>
                      <a:srgbClr val="17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95.29%</a:t>
                      </a:r>
                    </a:p>
                  </a:txBody>
                  <a:tcPr>
                    <a:solidFill>
                      <a:srgbClr val="17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90.70%</a:t>
                      </a:r>
                    </a:p>
                  </a:txBody>
                  <a:tcPr>
                    <a:solidFill>
                      <a:srgbClr val="17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90.81%</a:t>
                      </a:r>
                    </a:p>
                  </a:txBody>
                  <a:tcPr>
                    <a:solidFill>
                      <a:srgbClr val="171F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TF-IDF + LogReg (Champ)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96.47%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91.86%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91.93%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393192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Champion Model: </a:t>
            </a:r>
            <a:r>
              <a:rPr>
                <a:solidFill>
                  <a:srgbClr val="F8FAFC"/>
                </a:solidFill>
              </a:rPr>
              <a:t>TF-IDF + Logistic Regression achieves 91.93% Test Macro-F1 across all 6 cognitive levels.</a:t>
            </a:r>
          </a:p>
          <a:p>
            <a:pPr>
              <a:spcAft>
                <a:spcPts val="4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Superior Generalization: </a:t>
            </a:r>
            <a:r>
              <a:rPr>
                <a:solidFill>
                  <a:srgbClr val="F8FAFC"/>
                </a:solidFill>
              </a:rPr>
              <a:t>Maintains over 91.8% accuracy on unseen examination domains without overfitting.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71F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Calibri"/>
              </a:defRPr>
            </a:pPr>
            <a:r>
              <a:t>Task B: Difficulty Level (3 Classes)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2103120"/>
          <a:ext cx="48463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914400"/>
                <a:gridCol w="914400"/>
                <a:gridCol w="822960"/>
              </a:tblGrid>
              <a:tr h="34290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6B6D4"/>
                          </a:solidFill>
                          <a:latin typeface="Calibri"/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6B6D4"/>
                          </a:solidFill>
                          <a:latin typeface="Calibri"/>
                        </a:defRPr>
                      </a:pPr>
                      <a:r>
                        <a:t>Val Acc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6B6D4"/>
                          </a:solidFill>
                          <a:latin typeface="Calibri"/>
                        </a:defRPr>
                      </a:pPr>
                      <a:r>
                        <a:t>Test Acc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6B6D4"/>
                          </a:solidFill>
                          <a:latin typeface="Calibri"/>
                        </a:defRPr>
                      </a:pPr>
                      <a:r>
                        <a:t>Test F1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TF-IDF + Naive Bayes</a:t>
                      </a:r>
                    </a:p>
                  </a:txBody>
                  <a:tcPr>
                    <a:solidFill>
                      <a:srgbClr val="17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88.24%</a:t>
                      </a:r>
                    </a:p>
                  </a:txBody>
                  <a:tcPr>
                    <a:solidFill>
                      <a:srgbClr val="17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89.53%</a:t>
                      </a:r>
                    </a:p>
                  </a:txBody>
                  <a:tcPr>
                    <a:solidFill>
                      <a:srgbClr val="17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89.60%</a:t>
                      </a:r>
                    </a:p>
                  </a:txBody>
                  <a:tcPr>
                    <a:solidFill>
                      <a:srgbClr val="171F3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Linear SVM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94.12%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94.19%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94.35%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TF-IDF + LogReg (Champ)</a:t>
                      </a:r>
                    </a:p>
                  </a:txBody>
                  <a:tcPr>
                    <a:solidFill>
                      <a:srgbClr val="17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97.65%</a:t>
                      </a:r>
                    </a:p>
                  </a:txBody>
                  <a:tcPr>
                    <a:solidFill>
                      <a:srgbClr val="17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95.35%</a:t>
                      </a:r>
                    </a:p>
                  </a:txBody>
                  <a:tcPr>
                    <a:solidFill>
                      <a:srgbClr val="17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95.56%</a:t>
                      </a:r>
                    </a:p>
                  </a:txBody>
                  <a:tcPr>
                    <a:solidFill>
                      <a:srgbClr val="171F33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0" y="393192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Outstanding Difficulty Prediction: </a:t>
            </a:r>
            <a:r>
              <a:rPr>
                <a:solidFill>
                  <a:srgbClr val="F8FAFC"/>
                </a:solidFill>
              </a:rPr>
              <a:t>95.56% Test Macro-F1 across Easy, Medium, and Hard tiers.</a:t>
            </a:r>
          </a:p>
          <a:p>
            <a:pPr>
              <a:spcAft>
                <a:spcPts val="4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Balanced Support: </a:t>
            </a:r>
            <a:r>
              <a:rPr>
                <a:solidFill>
                  <a:srgbClr val="F8FAFC"/>
                </a:solidFill>
              </a:rPr>
              <a:t>High precision across both boundary tiers: 0.964 on Easy and 0.966 on Hard.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  <a:latin typeface="Calibri"/>
              </a:defRPr>
            </a:pPr>
            <a:r>
              <a:t>DETAILED MODEL BREAKDOWN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Calibri"/>
              </a:defRPr>
            </a:pPr>
            <a:r>
              <a:t>Task A &amp; B: Class-Wise Performance Metrics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Evaluating precision, recall, and F1-score across all individual cognitive levels and difficulty tiers.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583680" cy="4572000"/>
          </a:xfrm>
          <a:prstGeom prst="roundRect">
            <a:avLst/>
          </a:prstGeom>
          <a:solidFill>
            <a:srgbClr val="171F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62179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Calibri"/>
              </a:defRPr>
            </a:pPr>
            <a:r>
              <a:t>Bloom's Taxonomy Class-Wise Test Evaluation (Champion)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103120"/>
          <a:ext cx="62179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097280"/>
                <a:gridCol w="1097280"/>
                <a:gridCol w="1097280"/>
              </a:tblGrid>
              <a:tr h="29718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6B6D4"/>
                          </a:solidFill>
                          <a:latin typeface="Calibri"/>
                        </a:defRPr>
                      </a:pPr>
                      <a:r>
                        <a:t>Cognitive Level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6B6D4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6B6D4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6B6D4"/>
                          </a:solidFill>
                          <a:latin typeface="Calibri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6B6D4"/>
                          </a:solidFill>
                          <a:latin typeface="Calibri"/>
                        </a:defRPr>
                      </a:pPr>
                      <a:r>
                        <a:t>Support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1. Remember</a:t>
                      </a:r>
                    </a:p>
                  </a:txBody>
                  <a:tcPr>
                    <a:solidFill>
                      <a:srgbClr val="17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17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17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17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171F33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2. Understand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0.8125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0.8667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0.8387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3. Apply</a:t>
                      </a:r>
                    </a:p>
                  </a:txBody>
                  <a:tcPr>
                    <a:solidFill>
                      <a:srgbClr val="17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17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0.7692</a:t>
                      </a:r>
                    </a:p>
                  </a:txBody>
                  <a:tcPr>
                    <a:solidFill>
                      <a:srgbClr val="17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0.8696</a:t>
                      </a:r>
                    </a:p>
                  </a:txBody>
                  <a:tcPr>
                    <a:solidFill>
                      <a:srgbClr val="17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171F33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4. Analyze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0.9231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0.9600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5. Evaluate</a:t>
                      </a:r>
                    </a:p>
                  </a:txBody>
                  <a:tcPr>
                    <a:solidFill>
                      <a:srgbClr val="17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0.8947</a:t>
                      </a:r>
                    </a:p>
                  </a:txBody>
                  <a:tcPr>
                    <a:solidFill>
                      <a:srgbClr val="17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17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0.9444</a:t>
                      </a:r>
                    </a:p>
                  </a:txBody>
                  <a:tcPr>
                    <a:solidFill>
                      <a:srgbClr val="17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171F33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6. Create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0.8750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0.9333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0.9032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6B6D4"/>
                          </a:solidFill>
                          <a:latin typeface="Calibri"/>
                        </a:defRPr>
                      </a:pPr>
                      <a:r>
                        <a:t>Macro Average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6B6D4"/>
                          </a:solidFill>
                          <a:latin typeface="Calibri"/>
                        </a:defRPr>
                      </a:pPr>
                      <a:r>
                        <a:t>0.9304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6B6D4"/>
                          </a:solidFill>
                          <a:latin typeface="Calibri"/>
                        </a:defRPr>
                      </a:pPr>
                      <a:r>
                        <a:t>0.9154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6B6D4"/>
                          </a:solidFill>
                          <a:latin typeface="Calibri"/>
                        </a:defRPr>
                      </a:pPr>
                      <a:r>
                        <a:t>0.9193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6B6D4"/>
                          </a:solidFill>
                          <a:latin typeface="Calibri"/>
                        </a:defRPr>
                      </a:pPr>
                      <a:r>
                        <a:t>86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4663440"/>
            <a:ext cx="6217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Perfect Precision: </a:t>
            </a:r>
            <a:r>
              <a:rPr>
                <a:solidFill>
                  <a:srgbClr val="F8FAFC"/>
                </a:solidFill>
              </a:rPr>
              <a:t>Remember, Apply, and Analyze classes achieved 100% precision on held-out test splits.</a:t>
            </a:r>
          </a:p>
          <a:p>
            <a:pPr>
              <a:spcAft>
                <a:spcPts val="3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Key Nuance: </a:t>
            </a:r>
            <a:r>
              <a:rPr>
                <a:solidFill>
                  <a:srgbClr val="F8FAFC"/>
                </a:solidFill>
              </a:rPr>
              <a:t>Understand and Apply represent the largest source of soft ambiguity due to multi-clause verbs.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645920"/>
            <a:ext cx="3840480" cy="4572000"/>
          </a:xfrm>
          <a:prstGeom prst="roundRect">
            <a:avLst/>
          </a:prstGeom>
          <a:solidFill>
            <a:srgbClr val="171F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783080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Calibri"/>
              </a:defRPr>
            </a:pPr>
            <a:r>
              <a:t>Difficulty Tier Breakdown (Task 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194560"/>
            <a:ext cx="3474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Easy Tier (F1: 0.9643): </a:t>
            </a:r>
            <a:r>
              <a:rPr>
                <a:solidFill>
                  <a:srgbClr val="F8FAFC"/>
                </a:solidFill>
              </a:rPr>
              <a:t>Precision: 0.9643 | Recall: 0.9643 | Support: 28 questions.</a:t>
            </a:r>
          </a:p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Medium Tier (F1: 0.9310): </a:t>
            </a:r>
            <a:r>
              <a:rPr>
                <a:solidFill>
                  <a:srgbClr val="F8FAFC"/>
                </a:solidFill>
              </a:rPr>
              <a:t>Precision: 0.9310 | Recall: 0.9310 | Support: 29 questions.</a:t>
            </a:r>
          </a:p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Hard Tier (F1: 0.9655): </a:t>
            </a:r>
            <a:r>
              <a:rPr>
                <a:solidFill>
                  <a:srgbClr val="F8FAFC"/>
                </a:solidFill>
              </a:rPr>
              <a:t>Precision: 0.9655 | Recall: 0.9655 | Support: 29 questions.</a:t>
            </a:r>
          </a:p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Perfect Stratification: </a:t>
            </a:r>
            <a:r>
              <a:rPr>
                <a:solidFill>
                  <a:srgbClr val="F8FAFC"/>
                </a:solidFill>
              </a:rPr>
              <a:t>Equal balance across tiers prevents majority-class bias in automated audits.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  <a:latin typeface="Calibri"/>
              </a:defRPr>
            </a:pPr>
            <a:r>
              <a:t>SCIENTIFIC RESEARCH &amp; FEATURE ABLATION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Calibri"/>
              </a:defRPr>
            </a:pPr>
            <a:r>
              <a:t>Linguistic Sensitivity &amp; Multi-Modal Feature Fusion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Investigating the empirical contribution of lexical n-grams, readability formulas, and syntactic POS distributions.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71F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79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Calibri"/>
              </a:defRPr>
            </a:pPr>
            <a:r>
              <a:t>Controlled Ablation Experiments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Config 1 (Lexical Baseline): </a:t>
            </a:r>
            <a:r>
              <a:rPr>
                <a:solidFill>
                  <a:srgbClr val="F8FAFC"/>
                </a:solidFill>
              </a:rPr>
              <a:t>Word &amp; character n-grams (1-3 ngrams). Macro-F1 = 91.93%.</a:t>
            </a:r>
          </a:p>
          <a:p>
            <a:pPr>
              <a:spcAft>
                <a:spcPts val="600"/>
              </a:spcAft>
              <a:defRPr sz="100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Config 2 (+ Readability Metrics): </a:t>
            </a:r>
            <a:r>
              <a:rPr>
                <a:solidFill>
                  <a:srgbClr val="F8FAFC"/>
                </a:solidFill>
              </a:rPr>
              <a:t>Augmented with Flesch-Kincaid Grade Level, Automated Readability Index (ARI), Coleman-Liau &amp; Gunning Fog. Macro-F1 = 92.65% (+0.72% gain).</a:t>
            </a:r>
          </a:p>
          <a:p>
            <a:pPr>
              <a:spcAft>
                <a:spcPts val="600"/>
              </a:spcAft>
              <a:defRPr sz="100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Config 3 (+ Syntactic POS): </a:t>
            </a:r>
            <a:r>
              <a:rPr>
                <a:solidFill>
                  <a:srgbClr val="F8FAFC"/>
                </a:solidFill>
              </a:rPr>
              <a:t>Verb-to-noun ratios, imperative markers, modal auxiliary frequencies. Macro-F1 = 91.60% (-0.33%).</a:t>
            </a:r>
          </a:p>
          <a:p>
            <a:pPr>
              <a:spcAft>
                <a:spcPts val="600"/>
              </a:spcAft>
              <a:defRPr sz="100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Config 4 (Full Fusion): </a:t>
            </a:r>
            <a:r>
              <a:rPr>
                <a:solidFill>
                  <a:srgbClr val="F8FAFC"/>
                </a:solidFill>
              </a:rPr>
              <a:t>Union of Lexical, Readability, and Syntactic feature sets. Macro-F1 = 92.88% (+0.95% overall gain).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71F33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Calibri"/>
              </a:defRPr>
            </a:pPr>
            <a:r>
              <a:t>Critical Research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Readability Resolves Ambiguity: </a:t>
            </a:r>
            <a:r>
              <a:rPr>
                <a:solidFill>
                  <a:srgbClr val="F8FAFC"/>
                </a:solidFill>
              </a:rPr>
              <a:t>Incorporating surface readability (Flesch-Kincaid &amp; ARI) yielded a +9.4% F1 improvement on the 'Understand' class.</a:t>
            </a:r>
          </a:p>
          <a:p>
            <a:pPr>
              <a:spcAft>
                <a:spcPts val="600"/>
              </a:spcAft>
              <a:defRPr sz="100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The 'Procedural vs Conceptual' Boundary: </a:t>
            </a:r>
            <a:r>
              <a:rPr>
                <a:solidFill>
                  <a:srgbClr val="F8FAFC"/>
                </a:solidFill>
              </a:rPr>
              <a:t>Procedural questions ('Apply') exhibit markedly lower syllable complexity despite sharing similar technical vocabulary with conceptual questions ('Analyze').</a:t>
            </a:r>
          </a:p>
          <a:p>
            <a:pPr>
              <a:spcAft>
                <a:spcPts val="600"/>
              </a:spcAft>
              <a:defRPr sz="100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Syntactic Sparsity: </a:t>
            </a:r>
            <a:r>
              <a:rPr>
                <a:solidFill>
                  <a:srgbClr val="F8FAFC"/>
                </a:solidFill>
              </a:rPr>
              <a:t>Standalone POS tag distributions introduced slight noise for short questions, but fused with lexical n-grams provided strong syntactic constraint.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  <a:latin typeface="Calibri"/>
              </a:defRPr>
            </a:pPr>
            <a:r>
              <a:t>QUALITATIVE ERROR AUDITS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Calibri"/>
              </a:defRPr>
            </a:pPr>
            <a:r>
              <a:t>Why Pure Automation Fails &amp; Why HITL is Mandatory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Analyzing actual misclassification edge cases proves why automated AI must be paired with human oversight.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71F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Calibri"/>
              </a:defRPr>
            </a:pPr>
            <a:r>
              <a:t>Case 1: Dual-Objective Prompts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Exam Prompt: </a:t>
            </a:r>
            <a:r>
              <a:rPr>
                <a:solidFill>
                  <a:srgbClr val="F8FAFC"/>
                </a:solidFill>
              </a:rPr>
              <a:t>'Design an authentication flow and justify your choice of hashing algorithm.'</a:t>
            </a:r>
          </a:p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Model Assigned: </a:t>
            </a:r>
            <a:r>
              <a:rPr>
                <a:solidFill>
                  <a:srgbClr val="F8FAFC"/>
                </a:solidFill>
              </a:rPr>
              <a:t>EVALUATE (0.58 confidence).</a:t>
            </a:r>
          </a:p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Faculty Intended: </a:t>
            </a:r>
            <a:r>
              <a:rPr>
                <a:solidFill>
                  <a:srgbClr val="F8FAFC"/>
                </a:solidFill>
              </a:rPr>
              <a:t>CREATE (0.42 confidence).</a:t>
            </a:r>
          </a:p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Takeaway: </a:t>
            </a:r>
            <a:r>
              <a:rPr>
                <a:solidFill>
                  <a:srgbClr val="F8FAFC"/>
                </a:solidFill>
              </a:rPr>
              <a:t>The question contains two action verbs ('Design' = Create, 'Justify' = Evaluate). Faculty intent must govern the primary weight.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71F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Calibri"/>
              </a:defRPr>
            </a:pPr>
            <a:r>
              <a:t>Case 2: Conceptual vs Algorithmic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Exam Prompt: </a:t>
            </a:r>
            <a:r>
              <a:rPr>
                <a:solidFill>
                  <a:srgbClr val="F8FAFC"/>
                </a:solidFill>
              </a:rPr>
              <a:t>'Describe how Dijkstra's algorithm solves shortest paths on a weighted graph.'</a:t>
            </a:r>
          </a:p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Model Assigned: </a:t>
            </a:r>
            <a:r>
              <a:rPr>
                <a:solidFill>
                  <a:srgbClr val="F8FAFC"/>
                </a:solidFill>
              </a:rPr>
              <a:t>UNDERSTAND (due to verb 'Describe').</a:t>
            </a:r>
          </a:p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Faculty Intended: </a:t>
            </a:r>
            <a:r>
              <a:rPr>
                <a:solidFill>
                  <a:srgbClr val="F8FAFC"/>
                </a:solidFill>
              </a:rPr>
              <a:t>APPLY (requires mathematical graph trace).</a:t>
            </a:r>
          </a:p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Takeaway: </a:t>
            </a:r>
            <a:r>
              <a:rPr>
                <a:solidFill>
                  <a:srgbClr val="F8FAFC"/>
                </a:solidFill>
              </a:rPr>
              <a:t>Surface verbs can mask procedural requirements expected in university grading schemes.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71F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Calibri"/>
              </a:defRPr>
            </a:pPr>
            <a:r>
              <a:t>Case 3: Architectural Trade-Offs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945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Exam Prompt: </a:t>
            </a:r>
            <a:r>
              <a:rPr>
                <a:solidFill>
                  <a:srgbClr val="F8FAFC"/>
                </a:solidFill>
              </a:rPr>
              <a:t>'Explain the trade-offs between SQL and NoSQL storage engines.'</a:t>
            </a:r>
          </a:p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Model Assigned: </a:t>
            </a:r>
            <a:r>
              <a:rPr>
                <a:solidFill>
                  <a:srgbClr val="F8FAFC"/>
                </a:solidFill>
              </a:rPr>
              <a:t>EVALUATE (triggered by judgment term 'trade-offs').</a:t>
            </a:r>
          </a:p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Faculty Intended: </a:t>
            </a:r>
            <a:r>
              <a:rPr>
                <a:solidFill>
                  <a:srgbClr val="F8FAFC"/>
                </a:solidFill>
              </a:rPr>
              <a:t>UNDERSTAND (introductory overview).</a:t>
            </a:r>
          </a:p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Takeaway: </a:t>
            </a:r>
            <a:r>
              <a:rPr>
                <a:solidFill>
                  <a:srgbClr val="F8FAFC"/>
                </a:solidFill>
              </a:rPr>
              <a:t>Course level (Freshman vs Graduate) changes the depth of cognitive demand.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  <a:latin typeface="Calibri"/>
              </a:defRPr>
            </a:pPr>
            <a:r>
              <a:t>INSTITUTIONAL GOVERNANCE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Calibri"/>
              </a:defRPr>
            </a:pPr>
            <a:r>
              <a:t>3-Role RBAC &amp; Human-in-the-Loop (HITL) Workflow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Strict tenant isolation, immutable relational audit trails, and multi-tier role authorization.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71F33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Calibri"/>
              </a:defRPr>
            </a:pPr>
            <a:r>
              <a:t>Role 1: Faculty / 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Strict Tenant Isolation: </a:t>
            </a:r>
            <a:r>
              <a:rPr>
                <a:solidFill>
                  <a:srgbClr val="F8FAFC"/>
                </a:solidFill>
              </a:rPr>
              <a:t>Faculty members can only access their own uploaded papers and evaluation records.</a:t>
            </a:r>
          </a:p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Interactive Calibrator: </a:t>
            </a:r>
            <a:r>
              <a:rPr>
                <a:solidFill>
                  <a:srgbClr val="F8FAFC"/>
                </a:solidFill>
              </a:rPr>
              <a:t>Inspect parsed questions, view model confidence scores, and edit predictions.</a:t>
            </a:r>
          </a:p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Logged Rationale: </a:t>
            </a:r>
            <a:r>
              <a:rPr>
                <a:solidFill>
                  <a:srgbClr val="F8FAFC"/>
                </a:solidFill>
              </a:rPr>
              <a:t>Overrides require a brief justification to prevent arbitrary tampering.</a:t>
            </a:r>
          </a:p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Export Authority: </a:t>
            </a:r>
            <a:r>
              <a:rPr>
                <a:solidFill>
                  <a:srgbClr val="F8FAFC"/>
                </a:solidFill>
              </a:rPr>
              <a:t>Generate official institutional ReportLab PDF &amp; CSV audit documents.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71F33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Calibri"/>
              </a:defRPr>
            </a:pPr>
            <a:r>
              <a:t>Role 2: System Administrator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User Lifecycle Management: </a:t>
            </a:r>
            <a:r>
              <a:rPr>
                <a:solidFill>
                  <a:srgbClr val="F8FAFC"/>
                </a:solidFill>
              </a:rPr>
              <a:t>Activate, deactivate, and manage institutional accounts with Argon2id passwords.</a:t>
            </a:r>
          </a:p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Audit &amp; Activity Logs: </a:t>
            </a:r>
            <a:r>
              <a:rPr>
                <a:solidFill>
                  <a:srgbClr val="F8FAFC"/>
                </a:solidFill>
              </a:rPr>
              <a:t>Complete visibility over logins, file uploads, and model inference requests.</a:t>
            </a:r>
          </a:p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Model Deployment Monitor: </a:t>
            </a:r>
            <a:r>
              <a:rPr>
                <a:solidFill>
                  <a:srgbClr val="F8FAFC"/>
                </a:solidFill>
              </a:rPr>
              <a:t>Check active ML model registry version and system health diagnostics.</a:t>
            </a:r>
          </a:p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No Public Registration: </a:t>
            </a:r>
            <a:r>
              <a:rPr>
                <a:solidFill>
                  <a:srgbClr val="F8FAFC"/>
                </a:solidFill>
              </a:rPr>
              <a:t>Provisioned via administrative control to protect institutional integrity.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71F3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Calibri"/>
              </a:defRPr>
            </a:pPr>
            <a:r>
              <a:t>Role 3: Academic Researcher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945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Scientific Benchmarking: </a:t>
            </a:r>
            <a:r>
              <a:rPr>
                <a:solidFill>
                  <a:srgbClr val="F8FAFC"/>
                </a:solidFill>
              </a:rPr>
              <a:t>Inspect held-out confusion matrices, F1 macro metrics, and ROC curves.</a:t>
            </a:r>
          </a:p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Ablation Analytics: </a:t>
            </a:r>
            <a:r>
              <a:rPr>
                <a:solidFill>
                  <a:srgbClr val="F8FAFC"/>
                </a:solidFill>
              </a:rPr>
              <a:t>Compare model configurations across lexical, readability, and syntactic feature spaces.</a:t>
            </a:r>
          </a:p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Zero Cross-Mutation: </a:t>
            </a:r>
            <a:r>
              <a:rPr>
                <a:solidFill>
                  <a:srgbClr val="F8FAFC"/>
                </a:solidFill>
              </a:rPr>
              <a:t>Read-only research boundaries prevent tuning against locked evaluation splits.</a:t>
            </a:r>
          </a:p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Data Export: </a:t>
            </a:r>
            <a:r>
              <a:rPr>
                <a:solidFill>
                  <a:srgbClr val="F8FAFC"/>
                </a:solidFill>
              </a:rPr>
              <a:t>Download anonymized research splits for academic replication.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  <a:latin typeface="Calibri"/>
              </a:defRPr>
            </a:pPr>
            <a:r>
              <a:t>TECHNICAL ARCHITECTURE &amp; TECH STACK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Calibri"/>
              </a:defRPr>
            </a:pPr>
            <a:r>
              <a:t>Modern, Production-Hardened Implementation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FastAPI Python 3.11 backend paired with Next.js 16 + React 19 glassmorphic frontend.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171F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Calibri"/>
              </a:defRPr>
            </a:pPr>
            <a:r>
              <a:t>FastAPI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High-Performance: </a:t>
            </a:r>
            <a:r>
              <a:rPr>
                <a:solidFill>
                  <a:srgbClr val="F8FAFC"/>
                </a:solidFill>
              </a:rPr>
              <a:t>Asynchronous ASGI framework on Python 3.11.</a:t>
            </a:r>
          </a:p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Data Validation: </a:t>
            </a:r>
            <a:r>
              <a:rPr>
                <a:solidFill>
                  <a:srgbClr val="F8FAFC"/>
                </a:solidFill>
              </a:rPr>
              <a:t>Strict Pydantic v2 schemas and typed contracts.</a:t>
            </a:r>
          </a:p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ORM &amp; Migrations: </a:t>
            </a:r>
            <a:r>
              <a:rPr>
                <a:solidFill>
                  <a:srgbClr val="F8FAFC"/>
                </a:solidFill>
              </a:rPr>
              <a:t>SQLAlchemy 2.0 with Alembic versioning.</a:t>
            </a:r>
          </a:p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Documentation: </a:t>
            </a:r>
            <a:r>
              <a:rPr>
                <a:solidFill>
                  <a:srgbClr val="F8FAFC"/>
                </a:solidFill>
              </a:rPr>
              <a:t>Auto-generated OpenAPI (Swagger) endpoints.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171F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78308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Calibri"/>
              </a:defRPr>
            </a:pPr>
            <a:r>
              <a:t>Next.js 16 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19456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React 19 &amp; TypeScript: </a:t>
            </a:r>
            <a:r>
              <a:rPr>
                <a:solidFill>
                  <a:srgbClr val="F8FAFC"/>
                </a:solidFill>
              </a:rPr>
              <a:t>Strictly typed components &amp; state management.</a:t>
            </a:r>
          </a:p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Obsidian &amp; Violet: </a:t>
            </a:r>
            <a:r>
              <a:rPr>
                <a:solidFill>
                  <a:srgbClr val="F8FAFC"/>
                </a:solidFill>
              </a:rPr>
              <a:t>Glassmorphism design tokens with responsive CSS.</a:t>
            </a:r>
          </a:p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Visual Analytics: </a:t>
            </a:r>
            <a:r>
              <a:rPr>
                <a:solidFill>
                  <a:srgbClr val="F8FAFC"/>
                </a:solidFill>
              </a:rPr>
              <a:t>Interactive Recharts for cognitive distributions.</a:t>
            </a:r>
          </a:p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Zero-Mock UI: </a:t>
            </a:r>
            <a:r>
              <a:rPr>
                <a:solidFill>
                  <a:srgbClr val="F8FAFC"/>
                </a:solidFill>
              </a:rPr>
              <a:t>Direct real-time binding to backend SQLite/Postgres.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171F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Calibri"/>
              </a:defRPr>
            </a:pPr>
            <a:r>
              <a:t>Document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9456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PyMuPDF Engine: </a:t>
            </a:r>
            <a:r>
              <a:rPr>
                <a:solidFill>
                  <a:srgbClr val="F8FAFC"/>
                </a:solidFill>
              </a:rPr>
              <a:t>Lightning fast binary PDF text extraction.</a:t>
            </a:r>
          </a:p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python-docx: </a:t>
            </a:r>
            <a:r>
              <a:rPr>
                <a:solidFill>
                  <a:srgbClr val="F8FAFC"/>
                </a:solidFill>
              </a:rPr>
              <a:t>Word document table and paragraph parser.</a:t>
            </a:r>
          </a:p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Regex Matchers: </a:t>
            </a:r>
            <a:r>
              <a:rPr>
                <a:solidFill>
                  <a:srgbClr val="F8FAFC"/>
                </a:solidFill>
              </a:rPr>
              <a:t>Extracts question numbers, sub-parts, and marks.</a:t>
            </a:r>
          </a:p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Staging Hygiene: </a:t>
            </a:r>
            <a:r>
              <a:rPr>
                <a:solidFill>
                  <a:srgbClr val="F8FAFC"/>
                </a:solidFill>
              </a:rPr>
              <a:t>Secure file validation and path sanitization.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171F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78308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Calibri"/>
              </a:defRPr>
            </a:pPr>
            <a:r>
              <a:t>Security &amp; Hardening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219456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Argon2id Hashing: </a:t>
            </a:r>
            <a:r>
              <a:rPr>
                <a:solidFill>
                  <a:srgbClr val="F8FAFC"/>
                </a:solidFill>
              </a:rPr>
              <a:t>Modern cryptographic password hashing.</a:t>
            </a:r>
          </a:p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JWT Tokens: </a:t>
            </a:r>
            <a:r>
              <a:rPr>
                <a:solidFill>
                  <a:srgbClr val="F8FAFC"/>
                </a:solidFill>
              </a:rPr>
              <a:t>Signed stateless authorization tokens.</a:t>
            </a:r>
          </a:p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Zero Credential Leak: </a:t>
            </a:r>
            <a:r>
              <a:rPr>
                <a:solidFill>
                  <a:srgbClr val="F8FAFC"/>
                </a:solidFill>
              </a:rPr>
              <a:t>Environment-driven config via .env.</a:t>
            </a:r>
          </a:p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Container Ready: </a:t>
            </a:r>
            <a:r>
              <a:rPr>
                <a:solidFill>
                  <a:srgbClr val="F8FAFC"/>
                </a:solidFill>
              </a:rPr>
              <a:t>Multi-stage Dockerfile and Docker Compose.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  <a:latin typeface="Calibri"/>
              </a:defRPr>
            </a:pPr>
            <a:r>
              <a:t>INSTITUTIONAL IMPACT &amp; COMPLIANCE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Calibri"/>
              </a:defRPr>
            </a:pPr>
            <a:r>
              <a:t>Automated Accreditation Compliance &amp; Institutional Reports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Directly fulfilling ABET, NBA, and Washington Accord outcome-based assessment criteria.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71F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79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Calibri"/>
              </a:defRPr>
            </a:pPr>
            <a:r>
              <a:t>Accreditation Alignment (ABET / NBA)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Criterion 3 Outcome Verification: </a:t>
            </a:r>
            <a:r>
              <a:rPr>
                <a:solidFill>
                  <a:srgbClr val="F8FAFC"/>
                </a:solidFill>
              </a:rPr>
              <a:t>Accreditation bodies require proof that exams test complex engineering problems (Apply, Analyze, Evaluate, Create) rather than pure memorization.</a:t>
            </a:r>
          </a:p>
          <a:p>
            <a:pPr>
              <a:spcAft>
                <a:spcPts val="600"/>
              </a:spcAft>
              <a:defRPr sz="100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Automated Cognitive Balance Index: </a:t>
            </a:r>
            <a:r>
              <a:rPr>
                <a:solidFill>
                  <a:srgbClr val="F8FAFC"/>
                </a:solidFill>
              </a:rPr>
              <a:t>Quantifies the exact percentage of marks allocated to foundational (Levels 1-2) vs higher-order thinking (Levels 3-6).</a:t>
            </a:r>
          </a:p>
          <a:p>
            <a:pPr>
              <a:spcAft>
                <a:spcPts val="600"/>
              </a:spcAft>
              <a:defRPr sz="100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Difficulty Distribution Check: </a:t>
            </a:r>
            <a:r>
              <a:rPr>
                <a:solidFill>
                  <a:srgbClr val="F8FAFC"/>
                </a:solidFill>
              </a:rPr>
              <a:t>Flags examination papers with skewed difficulty (e.g., &gt;60% Hard or &gt;70% Easy) before exams are administered to students.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71F33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Calibri"/>
              </a:defRPr>
            </a:pPr>
            <a:r>
              <a:t>Institutional Export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ReportLab Automated PDF: </a:t>
            </a:r>
            <a:r>
              <a:rPr>
                <a:solidFill>
                  <a:srgbClr val="F8FAFC"/>
                </a:solidFill>
              </a:rPr>
              <a:t>Generates formal institutional moderation certificates complete with visual Bloom distribution charts, difficulty breakdown tables, and approval signature blocks.</a:t>
            </a:r>
          </a:p>
          <a:p>
            <a:pPr>
              <a:spcAft>
                <a:spcPts val="600"/>
              </a:spcAft>
              <a:defRPr sz="100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Streaming CSV Reports: </a:t>
            </a:r>
            <a:r>
              <a:rPr>
                <a:solidFill>
                  <a:srgbClr val="F8FAFC"/>
                </a:solidFill>
              </a:rPr>
              <a:t>Outputs granular question-by-question metrics (Question Text, Marks, Bloom Level, Difficulty, Confidence, Teacher Notes) for integration into university LMS/ERP systems.</a:t>
            </a:r>
          </a:p>
          <a:p>
            <a:pPr>
              <a:spcAft>
                <a:spcPts val="600"/>
              </a:spcAft>
              <a:defRPr sz="100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Audit Compliance: </a:t>
            </a:r>
            <a:r>
              <a:rPr>
                <a:solidFill>
                  <a:srgbClr val="F8FAFC"/>
                </a:solidFill>
              </a:rPr>
              <a:t>Provides verifiable proof of institutional academic rigor for accreditation review visits.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  <a:latin typeface="Calibri"/>
              </a:defRPr>
            </a:pPr>
            <a:r>
              <a:t>FUTURE RESEARCH &amp; DEVELOPMENT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Calibri"/>
              </a:defRPr>
            </a:pPr>
            <a:r>
              <a:t>Roadmap: Compact Adapters &amp; Cross-Disciplinary Scaling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Next-generation extensions to expand pedagogical coverage, domain adaptation, and multi-lingual exams.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71F33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Calibri"/>
              </a:defRPr>
            </a:pPr>
            <a:r>
              <a:t>1. Edge Parameter-Efficient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LoRA Adapters: </a:t>
            </a:r>
            <a:r>
              <a:rPr>
                <a:solidFill>
                  <a:srgbClr val="F8FAFC"/>
                </a:solidFill>
              </a:rPr>
              <a:t>Fine-tuning compact parameter-efficient domain adapters on DeBERTa-v3-small.</a:t>
            </a:r>
          </a:p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Quantized Inference: </a:t>
            </a:r>
            <a:r>
              <a:rPr>
                <a:solidFill>
                  <a:srgbClr val="F8FAFC"/>
                </a:solidFill>
              </a:rPr>
              <a:t>INT8/ONNX model quantization enabling sub-50ms inference on standard university edge servers without GPUs.</a:t>
            </a:r>
          </a:p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Contextual Multi-Sentence: </a:t>
            </a:r>
            <a:r>
              <a:rPr>
                <a:solidFill>
                  <a:srgbClr val="F8FAFC"/>
                </a:solidFill>
              </a:rPr>
              <a:t>Modeling complex preamble text and multi-step diagram prompts.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71F33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Calibri"/>
              </a:defRPr>
            </a:pPr>
            <a:r>
              <a:t>2. Cross-Disciplinary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Beyond STEM: </a:t>
            </a:r>
            <a:r>
              <a:rPr>
                <a:solidFill>
                  <a:srgbClr val="F8FAFC"/>
                </a:solidFill>
              </a:rPr>
              <a:t>Extending corpus coverage to humanities, legal case law, and medical clinical examinations.</a:t>
            </a:r>
          </a:p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Multimodal Vision NLP: </a:t>
            </a:r>
            <a:r>
              <a:rPr>
                <a:solidFill>
                  <a:srgbClr val="F8FAFC"/>
                </a:solidFill>
              </a:rPr>
              <a:t>Extracting and classifying cognitive demand from circuit diagrams, code snippets, and chemical equations.</a:t>
            </a:r>
          </a:p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Multi-Lingual Exams: </a:t>
            </a:r>
            <a:r>
              <a:rPr>
                <a:solidFill>
                  <a:srgbClr val="F8FAFC"/>
                </a:solidFill>
              </a:rPr>
              <a:t>Cross-lingual transfer learning to support regional examination boards.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71F3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Calibri"/>
              </a:defRPr>
            </a:pPr>
            <a:r>
              <a:t>3. Adaptive Exam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945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Automated Paper Synthesis: </a:t>
            </a:r>
            <a:r>
              <a:rPr>
                <a:solidFill>
                  <a:srgbClr val="F8FAFC"/>
                </a:solidFill>
              </a:rPr>
              <a:t>Invert the model to recommend or synthesize balanced exam papers satisfying exact Bloom target ratios.</a:t>
            </a:r>
          </a:p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Curricular Co-Pilot: </a:t>
            </a:r>
            <a:r>
              <a:rPr>
                <a:solidFill>
                  <a:srgbClr val="F8FAFC"/>
                </a:solidFill>
              </a:rPr>
              <a:t>Real-time authoring assistant that alerts faculty while they draft new exam questions.</a:t>
            </a:r>
          </a:p>
          <a:p>
            <a:pPr>
              <a:spcAft>
                <a:spcPts val="500"/>
              </a:spcAft>
              <a:defRPr sz="95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Historical Calibration: </a:t>
            </a:r>
            <a:r>
              <a:rPr>
                <a:solidFill>
                  <a:srgbClr val="F8FAFC"/>
                </a:solidFill>
              </a:rPr>
              <a:t>Auto-calibrate difficulty predictions against actual student grade distributions.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463040"/>
            <a:ext cx="109728" cy="3840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6B6D4"/>
                </a:solidFill>
                <a:latin typeface="Calibri"/>
              </a:defRPr>
            </a:pPr>
            <a:r>
              <a:t>CONCLUSION &amp; SUMMARY</a:t>
            </a:r>
            <a:r>
              <a:rPr b="1">
                <a:solidFill>
                  <a:srgbClr val="06B6D4"/>
                </a:solidFill>
              </a:rPr>
              <a:t>Conceptual Rigor: </a:t>
            </a:r>
            <a:r>
              <a:rPr>
                <a:solidFill>
                  <a:srgbClr val="F8FAFC"/>
                </a:solidFill>
              </a:rPr>
              <a:t>Decouples Bloom's cognitive demand from empirical difficulty, avoiding the Conflation Fallacy.</a:t>
            </a:r>
          </a:p>
          <a:p>
            <a:pPr>
              <a:spcAft>
                <a:spcPts val="1800"/>
              </a:spcAft>
              <a:defRPr sz="2400" b="1">
                <a:solidFill>
                  <a:srgbClr val="F8FAFC"/>
                </a:solidFill>
                <a:latin typeface="Calibri"/>
              </a:defRPr>
            </a:pPr>
            <a:r>
              <a:t>Key Takeaways: AI BASED AUTOMATIC QUESTION PAPER DIFFICULTY ANALYZER</a:t>
            </a:r>
          </a:p>
          <a:p>
            <a:pPr>
              <a:spcAft>
                <a:spcPts val="1000"/>
              </a:spcAft>
              <a:defRPr sz="120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State-of-the-Art Accuracy: </a:t>
            </a:r>
            <a:r>
              <a:rPr>
                <a:solidFill>
                  <a:srgbClr val="F8FAFC"/>
                </a:solidFill>
              </a:rPr>
              <a:t>Achieves 91.93% Bloom's Macro-F1 and 95.56% Difficulty Macro-F1 with zero-leakage training.</a:t>
            </a:r>
          </a:p>
          <a:p>
            <a:pPr>
              <a:spcAft>
                <a:spcPts val="1000"/>
              </a:spcAft>
              <a:defRPr sz="120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Linguistic Contribution: </a:t>
            </a:r>
            <a:r>
              <a:rPr>
                <a:solidFill>
                  <a:srgbClr val="F8FAFC"/>
                </a:solidFill>
              </a:rPr>
              <a:t>Demonstrated that surface readability formulas significantly enhance discrimination on conceptual prompts (+9.4% F1).</a:t>
            </a:r>
          </a:p>
          <a:p>
            <a:pPr>
              <a:spcAft>
                <a:spcPts val="1000"/>
              </a:spcAft>
              <a:defRPr sz="120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Production-Grade Engineering: </a:t>
            </a:r>
            <a:r>
              <a:rPr>
                <a:solidFill>
                  <a:srgbClr val="F8FAFC"/>
                </a:solidFill>
              </a:rPr>
              <a:t>FastAPI + Next.js 16 + React 19 + ReportLab PDF generator + 3-role RBAC governance.</a:t>
            </a:r>
          </a:p>
          <a:p>
            <a:pPr>
              <a:spcAft>
                <a:spcPts val="1000"/>
              </a:spcAft>
              <a:defRPr sz="1200"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Institutional Value: </a:t>
            </a:r>
            <a:r>
              <a:rPr>
                <a:solidFill>
                  <a:srgbClr val="F8FAFC"/>
                </a:solidFill>
              </a:rPr>
              <a:t>Transforms manual, subjective moderation into an auditable, human-in-the-loop accreditation asset.</a:t>
            </a:r>
          </a:p>
          <a:p>
            <a:br/>
            <a:pPr>
              <a:defRPr sz="1600" b="1">
                <a:solidFill>
                  <a:srgbClr val="6366F1"/>
                </a:solidFill>
                <a:latin typeface="Calibri"/>
              </a:defRPr>
            </a:pPr>
            <a:r>
              <a:t>Thank you! Questions &amp;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